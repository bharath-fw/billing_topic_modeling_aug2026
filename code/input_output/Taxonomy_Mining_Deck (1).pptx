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Business_Overview.md: counts for raw contacts, billing contacts, 10+1 categories, 104 tags and 91.4% specific classification. Review_Response.md: YTD tagged output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Review_Response.md: 832,885 rows; exactly 1 topic 784,777; exactly 2 topics 45,288; 3 topics 2,820; at least a second topic 48,108; fallback 71,922. Business_Overview.md: 91.4% specific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Brightspeed_Billing_Taxonomy_Process_Report.md: initial explanatory notebook 12 categories / 40 fine KMeans clusters; final production ontology 10 macro categories plus Other with 104 canonical subcategories; final uploaded YTD billing workbook 832,885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Brightspeed_Billing_Taxonomy_Process_Report.md: 12/40 is exploratory discovery; scale-up uses 80/14 as higher-resolution engineering defaults; final 10+1/104 is governed production vocabulary. Classification prompt file contains the canonical vocabulary and exact output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Review_Response.md: category breakdown top 10 plus Promotions Rewards and Gift Cards; rows and shares listed in Q2.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billing_taxonomy_comprehensive_v4/treemap_subcategory_evidence_density.png; canonical_leaf_evidence_counts.csv contains 104 tags and mapped evidence_count. Report notes this is mapped aggregate source-reason evidence, not raw row-level density.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billing_taxonomy_comprehensive_v4/som_evidence_density.png; Brightspeed_Billing_Taxonomy_Process_Report.md sections 12 and 13: SOM is semantic geography, not taxonomy tree; current bundled SOM is prototype topology with mapped aggregate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pipeline.py: stage flow includes BillingKernel, KMeans clustering, cluster-to-taxonomy mapping, GLVQ prototype model, Kohonen SOM and top-3 scoring. clustering.py: evaluates KMeans, MiniBatchKMeans, Agglomerative, BIRCH and HDBSCAN when available. Process report: algorithm search uses silhouette, coverage, month stability and seed interpretability.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Classification prompt file: vocabulary lock, tag_1 required, tag_2/tag_3 optional only for independent billing asks, exact category/subcategory copy. Review_Response.md: multi-topic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Brightspeed_Billing_Taxonomy_Process_Report.md: recommended governance loop to score new calls, monitor Other/Misc and sibling confusion, review recurring unmatched language, rerun diagnostics periodically and approve versioned taxonomy updates. Business_Overview.md: dashboarding and self-serve workflow rationale.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16152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Billing taxonomy and YTD classification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2240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CEBFF"/>
                </a:solidFill>
              </a:rPr>
              <a:t>Executive decision package for operating and financial leadership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816352"/>
            <a:ext cx="3291840" cy="0"/>
          </a:xfrm>
          <a:prstGeom prst="line">
            <a:avLst/>
          </a:prstGeom>
          <a:noFill/>
          <a:ln w="27940">
            <a:solidFill>
              <a:srgbClr val="F7D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4892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117"/>
                </a:solidFill>
              </a:rPr>
              <a:t>832,885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5340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6EEF8"/>
                </a:solidFill>
              </a:rPr>
              <a:t>YTD billing contacts classified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47288" y="4892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117"/>
                </a:solidFill>
              </a:rPr>
              <a:t>10 + 1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47288" y="5340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6EEF8"/>
                </a:solidFill>
              </a:rPr>
              <a:t>macro categories plus fallback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36208" y="4892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117"/>
                </a:solidFill>
              </a:rPr>
              <a:t>104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36208" y="5340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6EEF8"/>
                </a:solidFill>
              </a:rPr>
              <a:t>canonical billing reasons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25128" y="4892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117"/>
                </a:solidFill>
              </a:rPr>
              <a:t>91.4%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25128" y="5340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6EEF8"/>
                </a:solidFill>
              </a:rPr>
              <a:t>classified to a specific topic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63093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7D9"/>
                </a:solidFill>
              </a:rPr>
              <a:t>October 2026 readiness view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synthesis: the system converts billing contact volume into managed signals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Key message: a governed vocabulary now turns billing reasons into stable reporting and action levers.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1F5B"/>
                </a:solidFill>
              </a:rPr>
              <a:t>832,885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billing rows scored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788920" y="166420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</a:rPr>
              <a:t>94.2%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88920" y="20756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single-topic contacts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983480" y="166420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998B"/>
                </a:solidFill>
              </a:rPr>
              <a:t>5.8%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983480" y="20756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genuine multi-topic contacts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178040" y="166420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8C28"/>
                </a:solidFill>
              </a:rPr>
              <a:t>8.6%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78040" y="20756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fallback rate for review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9372600" y="1664208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5B3FD6"/>
                </a:solidFill>
              </a:rPr>
              <a:t>104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372600" y="20756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canonical leaf tags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94360" y="2999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</a:rPr>
              <a:t>Management implications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8368" y="3429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1F5B"/>
                </a:solidFill>
              </a:rPr>
              <a:t>Experience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874520" y="34290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</a:rPr>
              <a:t>Customer pain is now measurable by reason, not broad queue label.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087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1F5B"/>
                </a:solidFill>
              </a:rPr>
              <a:t>Economics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874520" y="40873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</a:rPr>
              <a:t>Payment, balance, credits, fees and refunds can be tied to cost-to-serve and leakage.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745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1F5B"/>
                </a:solidFill>
              </a:rPr>
              <a:t>Data layer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874520" y="47457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</a:rPr>
              <a:t>A stable tag layer enables workflow routing, dashboards and model governance.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999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</a:rPr>
              <a:t>Topic rank distribution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92240" y="3547872"/>
            <a:ext cx="4479097" cy="347472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1337" y="3547872"/>
            <a:ext cx="256764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100" y="3547872"/>
            <a:ext cx="16167" cy="34747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041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Exactly 1 topic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327648" y="4078224"/>
            <a:ext cx="109728" cy="109728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40416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Exactly 2 topics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955280" y="4078224"/>
            <a:ext cx="109728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4041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3 topics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646920" y="4078224"/>
            <a:ext cx="109728" cy="109728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7365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</a:rPr>
              <a:t>Interpretation: the classifier is intentionally conservative. Extra topics are exceptional, not filler.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53218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1D1F"/>
                </a:solidFill>
              </a:rPr>
              <a:t>8.6% fallback creates an auditable backlog for governance rather than forcing low-confidence labels.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YTD tagged output and taxonomy report.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process: separate discovery, governance and production scoring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The pipeline intentionally avoids treating exploratory clusters as final business labels.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3090672"/>
            <a:ext cx="1188720" cy="0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97680" y="3090672"/>
            <a:ext cx="1188720" cy="0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37960" y="3090672"/>
            <a:ext cx="1188720" cy="0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78240" y="3090672"/>
            <a:ext cx="1188720" cy="0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61288" y="1828800"/>
            <a:ext cx="393192" cy="38404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F5B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YTD contacts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80720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5.0M+ call population context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3401568" y="1828800"/>
            <a:ext cx="393192" cy="38404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F5B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0" y="2468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Billing segment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280720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832,885 Billing / Payments rows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5641848" y="1828800"/>
            <a:ext cx="393192" cy="38404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F5B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2468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Topic discovery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280720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12 categories / 40 fine clusters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7882128" y="1828800"/>
            <a:ext cx="393192" cy="38404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F5B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2468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Governed taxonomy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280720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10 macro categories + Other; 104 leaves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10122408" y="1828800"/>
            <a:ext cx="393192" cy="38404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1F5B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55480" y="24688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</a:rPr>
              <a:t>YTD scoring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55480" y="2807208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tag_1 required; tag_2/3 only when separate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685800" y="4599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</a:rPr>
              <a:t>Critical distinction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560320" y="455371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1F5B"/>
                </a:solidFill>
              </a:rPr>
              <a:t>The 40 clusters were a discovery resolution. The 104 leaves are the controlled production vocabulary.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560320" y="496519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D1D1F"/>
                </a:solidFill>
              </a:rPr>
              <a:t>Why this matters: rare but valid billing intents would disappear if the taxonomy were limited to high-density clusters only.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technical process report and final taxonomy workbook.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12 / 40 became 10 + 1 / 104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The category layer was simplified for executives; the leaf layer was expanded for operational coverage.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77640" y="2880360"/>
            <a:ext cx="914400" cy="0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0" y="2880360"/>
            <a:ext cx="914400" cy="0"/>
          </a:xfrm>
          <a:prstGeom prst="line">
            <a:avLst/>
          </a:prstGeom>
          <a:noFill/>
          <a:ln w="19050">
            <a:solidFill>
              <a:srgbClr val="D9E2E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85800" y="1764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Exploratory notebook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2CE"/>
                </a:solidFill>
              </a:rPr>
              <a:t>12 categories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40 fine clusters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B7280"/>
                </a:solidFill>
              </a:rPr>
              <a:t>Learn observed geometry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4206240" y="1764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Scale-up 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206240" y="2240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2CE"/>
                </a:solidFill>
              </a:rPr>
              <a:t>14 coarse groups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06240" y="2697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80 fine clusters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06240" y="3200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B7280"/>
                </a:solidFill>
              </a:rPr>
              <a:t>Stress-test resolution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7726680" y="1764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1D1F"/>
                </a:solidFill>
              </a:rPr>
              <a:t>Production taxonomy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26680" y="2240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1F5B"/>
                </a:solidFill>
              </a:rPr>
              <a:t>10 + 1 categories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26680" y="2697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3FD6"/>
                </a:solidFill>
              </a:rPr>
              <a:t>104 canonical leaves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26680" y="32004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6B7280"/>
                </a:solidFill>
              </a:rPr>
              <a:t>Classify current and future asks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13232" y="42519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1F5B"/>
                </a:solidFill>
              </a:rPr>
              <a:t>Governance transformations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" y="4507992"/>
            <a:ext cx="2468880" cy="0"/>
          </a:xfrm>
          <a:prstGeom prst="line">
            <a:avLst/>
          </a:prstGeom>
          <a:noFill/>
          <a:ln w="13970">
            <a:solidFill>
              <a:srgbClr val="001F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681728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D1D1F"/>
                </a:solidFill>
              </a:rPr>
              <a:t>• Merge overlapping semantic groups into durable reporting categories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D1D1F"/>
                </a:solidFill>
              </a:rPr>
              <a:t>• Retain rare but valid billing consequences such as vacation hold billing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D1D1F"/>
                </a:solidFill>
              </a:rPr>
              <a:t>• Split operationally distinct asks that clustering can blur, such as late-fee dispute versus waiver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D1D1F"/>
                </a:solidFill>
              </a:rPr>
              <a:t>• Freeze machine-readable canonical tags and route residual ambiguity to Other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process report, taxonomy workbook and canonical vocabulary.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YTD billing volume is concentrated in a small number of operating themes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Payments and balance questions together account for more than half of tagged billing contacts.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367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Payments and Payment Posting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673352"/>
            <a:ext cx="4800600" cy="164592"/>
          </a:xfrm>
          <a:prstGeom prst="rect">
            <a:avLst/>
          </a:prstGeom>
          <a:solidFill>
            <a:srgbClr val="0072CE"/>
          </a:solidFill>
          <a:ln w="12700">
            <a:solidFill>
              <a:srgbClr val="0072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16276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245k  (29.4%)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0299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Bill Understanding and Balance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066544"/>
            <a:ext cx="4404019" cy="164592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0" y="20208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225k  (26.9%)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Other Category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459736"/>
            <a:ext cx="1410769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24140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72k  (8.6%)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2816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Payment Assistance Past Due and Collections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852928"/>
            <a:ext cx="1264576" cy="164592"/>
          </a:xfrm>
          <a:prstGeom prst="rect">
            <a:avLst/>
          </a:prstGeom>
          <a:solidFill>
            <a:srgbClr val="0B7285"/>
          </a:solidFill>
          <a:ln w="12700">
            <a:solidFill>
              <a:srgbClr val="0B72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2807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64k  (7.7%)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2095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Billing Errors Fees and Taxes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1133076" cy="164592"/>
          </a:xfrm>
          <a:prstGeom prst="rect">
            <a:avLst/>
          </a:prstGeom>
          <a:solidFill>
            <a:srgbClr val="5B3FD6"/>
          </a:solidFill>
          <a:ln w="12700">
            <a:solidFill>
              <a:srgbClr val="5B3F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3200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58k  (6.9%)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36027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Credits Refunds and Adjustments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639312"/>
            <a:ext cx="1086215" cy="1645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0" y="35935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55k  (6.7%)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3995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AutoPay and Payment Methods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032504"/>
            <a:ext cx="994043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0" y="398678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51k  (6.1%)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4389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Rates Discounts and Recurring Charges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4425696"/>
            <a:ext cx="455643" cy="164592"/>
          </a:xfrm>
          <a:prstGeom prst="rect">
            <a:avLst/>
          </a:prstGeom>
          <a:solidFill>
            <a:srgbClr val="8A6DF1"/>
          </a:solidFill>
          <a:ln w="12700">
            <a:solidFill>
              <a:srgbClr val="8A6D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0" y="437997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23k  (2.8%)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4782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Billing Delivery Account and Preferences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4818888"/>
            <a:ext cx="298701" cy="164592"/>
          </a:xfrm>
          <a:prstGeom prst="rect">
            <a:avLst/>
          </a:prstGeom>
          <a:solidFill>
            <a:srgbClr val="7DA2FF"/>
          </a:solidFill>
          <a:ln w="12700">
            <a:solidFill>
              <a:srgbClr val="7DA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9840" y="47731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15k  (1.8%)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5175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Service Changes Equipment and Final Billing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5212080"/>
            <a:ext cx="250762" cy="164592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49840" y="5166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13k  (1.5%)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5800" y="5568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D1D1F"/>
                </a:solidFill>
              </a:rPr>
              <a:t>Promotions Rewards and Gift Cards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5605272"/>
            <a:ext cx="238855" cy="164592"/>
          </a:xfrm>
          <a:prstGeom prst="rect">
            <a:avLst/>
          </a:prstGeom>
          <a:solidFill>
            <a:srgbClr val="D9B44A"/>
          </a:solidFill>
          <a:ln w="12700">
            <a:solidFill>
              <a:srgbClr val="D9B4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9840" y="55595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12k  (1.5%)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59618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1F5B"/>
                </a:solidFill>
              </a:rPr>
              <a:t>Leadership readout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31720" y="5934456"/>
            <a:ext cx="8183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The initial value pool is in payment, balance and broad billing understanding; the fallback rate is the next governance target.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Review_Response.md tagged output category breakdown.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Treemap density reveals the managed reason portfolio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Area reflects mapped evidence density; low-volume coverage leaves remain visible for future classification.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pic>
        <p:nvPicPr>
          <p:cNvPr id="8" name="Image 0" descr="/mnt/data/billing_taxonomy_comprehensive_v4/treemap_subcategory_evidence_den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026" y="1572768"/>
            <a:ext cx="6486468" cy="4343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0" y="1691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1F5B"/>
                </a:solidFill>
              </a:rPr>
              <a:t>How to read it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458200" y="1947672"/>
            <a:ext cx="2377440" cy="0"/>
          </a:xfrm>
          <a:prstGeom prst="line">
            <a:avLst/>
          </a:prstGeom>
          <a:noFill/>
          <a:ln w="13970">
            <a:solidFill>
              <a:srgbClr val="001F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2139696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Large blocks: high-volume observed reasons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Small blocks: rare or coverage-expansion leaves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Color grouping: macro category structure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Purpose: audit coverage without deleting rare valid asks</a:t>
            </a:r>
            <a:endParaRPr lang="en-US" sz="1060" dirty="0"/>
          </a:p>
        </p:txBody>
      </p:sp>
      <p:sp>
        <p:nvSpPr>
          <p:cNvPr id="12" name="Text 9"/>
          <p:cNvSpPr/>
          <p:nvPr/>
        </p:nvSpPr>
        <p:spPr>
          <a:xfrm>
            <a:off x="8458200" y="3886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28C28"/>
                </a:solidFill>
              </a:rPr>
              <a:t>Executive implication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458200" y="4142232"/>
            <a:ext cx="2377440" cy="0"/>
          </a:xfrm>
          <a:prstGeom prst="line">
            <a:avLst/>
          </a:prstGeom>
          <a:noFill/>
          <a:ln w="13970">
            <a:solidFill>
              <a:srgbClr val="F28C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431596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</a:rPr>
              <a:t>Use it to focus improvement on dense pain points while preserving taxonomy coverage for low-frequency but high-severity events.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treemap_subcategory_evidence_density.png and canonical evidence mapping.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topology highlights neighborhoods, overlap and governance gaps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The SOM is a diagnostic geography of the taxonomy, not the business hierarchy itself.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pic>
        <p:nvPicPr>
          <p:cNvPr id="8" name="Image 0" descr="/mnt/data/billing_taxonomy_comprehensive_v4/som_evidence_den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33965"/>
            <a:ext cx="7543800" cy="36667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58200" y="1691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1F5B"/>
                </a:solidFill>
              </a:rPr>
              <a:t>What the map is useful for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458200" y="1947672"/>
            <a:ext cx="2560320" cy="0"/>
          </a:xfrm>
          <a:prstGeom prst="line">
            <a:avLst/>
          </a:prstGeom>
          <a:noFill/>
          <a:ln w="13970">
            <a:solidFill>
              <a:srgbClr val="001F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2139696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Dense regions indicate recurring semantic patterns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Nearby regions expose likely sibling confusion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Sparse areas identify coverage-only or rare leaves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Outliers help find boundary leakage and candidates for Other review</a:t>
            </a:r>
            <a:endParaRPr lang="en-US" sz="1060" dirty="0"/>
          </a:p>
        </p:txBody>
      </p:sp>
      <p:sp>
        <p:nvSpPr>
          <p:cNvPr id="12" name="Text 9"/>
          <p:cNvSpPr/>
          <p:nvPr/>
        </p:nvSpPr>
        <p:spPr>
          <a:xfrm>
            <a:off x="8458200" y="4160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28C28"/>
                </a:solidFill>
              </a:rPr>
              <a:t>Boundary condition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458200" y="4416552"/>
            <a:ext cx="2560320" cy="0"/>
          </a:xfrm>
          <a:prstGeom prst="line">
            <a:avLst/>
          </a:prstGeom>
          <a:noFill/>
          <a:ln w="13970">
            <a:solidFill>
              <a:srgbClr val="F28C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4572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D1D1F"/>
                </a:solidFill>
              </a:rPr>
              <a:t>Current map uses semantic prototype topology with mapped evidence density; it should not be represented as raw BMU density from every YTD row.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SOM evidence-density asset and technical process report.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architecture: discovery learns structure; governance controls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The production layer prioritizes consistency, auditability and controlled vocabulary over raw cluster labels.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2926080"/>
            <a:ext cx="777240" cy="0"/>
          </a:xfrm>
          <a:prstGeom prst="line">
            <a:avLst/>
          </a:prstGeom>
          <a:noFill/>
          <a:ln w="20320">
            <a:solidFill>
              <a:srgbClr val="D9E2E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52160" y="2926080"/>
            <a:ext cx="777240" cy="0"/>
          </a:xfrm>
          <a:prstGeom prst="line">
            <a:avLst/>
          </a:prstGeom>
          <a:noFill/>
          <a:ln w="20320">
            <a:solidFill>
              <a:srgbClr val="D9E2E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41080" y="2926080"/>
            <a:ext cx="777240" cy="0"/>
          </a:xfrm>
          <a:prstGeom prst="line">
            <a:avLst/>
          </a:prstGeom>
          <a:noFill/>
          <a:ln w="20320">
            <a:solidFill>
              <a:srgbClr val="D9E2E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94360" y="17647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</a:rPr>
              <a:t>Segment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1F5B"/>
                </a:solidFill>
              </a:rPr>
              <a:t>BillingKernel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2057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D1D1F"/>
                </a:solidFill>
              </a:rPr>
              <a:t>Separates billing domain from all contacts using heuristic Billing / Payments signal.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383280" y="17647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</a:rPr>
              <a:t>Discover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1F5B"/>
                </a:solidFill>
              </a:rPr>
              <a:t>Algorithm search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2057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D1D1F"/>
                </a:solidFill>
              </a:rPr>
              <a:t>Tests KMeans, MiniBatch, Agglomerative, BIRCH and HDBSCAN where available.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172200" y="17647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</a:rPr>
              <a:t>Validate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1F5B"/>
                </a:solidFill>
              </a:rPr>
              <a:t>GLVQ + SOM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172200" y="2788920"/>
            <a:ext cx="2057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D1D1F"/>
                </a:solidFill>
              </a:rPr>
              <a:t>Learns prototypes and surfaces semantic topology, overlap and density.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961120" y="17647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7280"/>
                </a:solidFill>
              </a:rPr>
              <a:t>Control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0" y="23317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1F5B"/>
                </a:solidFill>
              </a:rPr>
              <a:t>Canonical tags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961120" y="2788920"/>
            <a:ext cx="2057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D1D1F"/>
                </a:solidFill>
              </a:rPr>
              <a:t>Freezes 104 allowed outputs and uses Other for ambiguous billing.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58368" y="44622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1F5B"/>
                </a:solidFill>
              </a:rPr>
              <a:t>Parameter search principles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" y="4718304"/>
            <a:ext cx="2423160" cy="0"/>
          </a:xfrm>
          <a:prstGeom prst="line">
            <a:avLst/>
          </a:prstGeom>
          <a:noFill/>
          <a:ln w="13970">
            <a:solidFill>
              <a:srgbClr val="001F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956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Separation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266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</a:rPr>
              <a:t>Silhouette and cohesive topics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3429000" y="4956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Stability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29000" y="5266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</a:rPr>
              <a:t>Month-to-month consistency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6172200" y="4956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Coverage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72200" y="5266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</a:rPr>
              <a:t>Few unassigned records during discovery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8915400" y="49560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Interpretability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15400" y="5266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B7280"/>
                </a:solidFill>
              </a:rPr>
              <a:t>Centroids align with known billing concepts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pipeline, clustering, GLVQ and process report artifacts.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scoring contract: one primary reason, optional secondary reasons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Designed to minimize entropy: no forced third tag, no invented labels, no pseudo-confidence scores.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459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1F5B"/>
                </a:solidFill>
              </a:rPr>
              <a:t>Output discipline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901952"/>
            <a:ext cx="2103120" cy="0"/>
          </a:xfrm>
          <a:prstGeom prst="line">
            <a:avLst/>
          </a:prstGeom>
          <a:noFill/>
          <a:ln w="13970">
            <a:solidFill>
              <a:srgbClr val="001F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84832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D1D1F"/>
                </a:solidFill>
              </a:rPr>
              <a:t>• tag_1 is mandatory for every billing row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D1D1F"/>
                </a:solidFill>
              </a:rPr>
              <a:t>• tag_2 and tag_3 appear only for separate billing asks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D1D1F"/>
                </a:solidFill>
              </a:rPr>
              <a:t>• Causes, consequences and restatements do not create extra tags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D1D1F"/>
                </a:solidFill>
              </a:rPr>
              <a:t>• Other is a valid primary tag when no specific leaf fits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5806440" y="1572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D1D1F"/>
                </a:solidFill>
              </a:rPr>
              <a:t>Example classification logic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5806440" y="18562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Customer intent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321040" y="18562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Allowed tag output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44200" y="18562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Rank use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06440" y="2953512"/>
            <a:ext cx="5577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2402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D1D1F"/>
                </a:solidFill>
              </a:rPr>
              <a:t>Payment made but not reflected on account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8321040" y="22402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01F5B"/>
                </a:solidFill>
              </a:rPr>
              <a:t>PAY_PAYMENT_NOT_POSTED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0744200" y="2331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072CE"/>
                </a:solidFill>
              </a:rPr>
              <a:t>1 topic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806440" y="3867912"/>
            <a:ext cx="5577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1546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D1D1F"/>
                </a:solidFill>
              </a:rPr>
              <a:t>Payment not posted and needs AutoPay card updated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8321040" y="31546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01F5B"/>
                </a:solidFill>
              </a:rPr>
              <a:t>PAY_PAYMENT_NOT_POSTED + AUTO_UPDATE_AUTOPAY_PAYMENT_METHOD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0744200" y="32461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B998B"/>
                </a:solidFill>
              </a:rPr>
              <a:t>2 topics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806440" y="4782312"/>
            <a:ext cx="55778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0690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D1D1F"/>
                </a:solidFill>
              </a:rPr>
              <a:t>Bill seems high, wants copy of statement and refund status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8321040" y="406908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001F5B"/>
                </a:solidFill>
              </a:rPr>
              <a:t>RATE_BILL_HIGHER_THAN_EXPECTED + ACCT_BILL_COPY_STATEMENT_REQUEST + CRD_REFUND_NOT_RECEIVED_REFUND_STATUS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10744200" y="41605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28C28"/>
                </a:solidFill>
              </a:rPr>
              <a:t>3 topics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685800" y="4663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28C28"/>
                </a:solidFill>
              </a:rPr>
              <a:t>Resulting control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4919472"/>
            <a:ext cx="2103120" cy="0"/>
          </a:xfrm>
          <a:prstGeom prst="line">
            <a:avLst/>
          </a:prstGeom>
          <a:noFill/>
          <a:ln w="1397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0840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01F5B"/>
                </a:solidFill>
              </a:rPr>
              <a:t>The output is ready for dashboards and governance because labels are machine-readable, stable and auditable by design.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final classification prompt and YTD tagging statistics.</a:t>
            </a:r>
            <a:endParaRPr lang="en-US" sz="7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7D117"/>
          </a:solidFill>
          <a:ln w="12700">
            <a:solidFill>
              <a:srgbClr val="F7D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brightspeed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actions: treat taxonomy as operating infrastructure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133856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The immediate opportunity is to turn the tagged file into a governance loop and performance management layer.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01400" y="310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201400" cy="0"/>
          </a:xfrm>
          <a:prstGeom prst="line">
            <a:avLst/>
          </a:prstGeom>
          <a:noFill/>
          <a:ln w="9525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1F5B"/>
                </a:solidFill>
              </a:rPr>
              <a:t>Customer experience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984248"/>
            <a:ext cx="2468880" cy="0"/>
          </a:xfrm>
          <a:prstGeom prst="line">
            <a:avLst/>
          </a:prstGeom>
          <a:noFill/>
          <a:ln w="17780">
            <a:solidFill>
              <a:srgbClr val="0072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942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Track top billing pain points monthly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Use fallback themes as early warning signals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Prioritize policy fixes that reduce avoidable contacts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4434840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1F5B"/>
                </a:solidFill>
              </a:rPr>
              <a:t>Financial controls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1984248"/>
            <a:ext cx="2468880" cy="0"/>
          </a:xfrm>
          <a:prstGeom prst="line">
            <a:avLst/>
          </a:prstGeom>
          <a:noFill/>
          <a:ln w="1778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24942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Quantify cost-to-serve by billing reason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Monitor credits, refunds, late fees and payment failures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Tie reason mix to billing leakage and collections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8183880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1F5B"/>
                </a:solidFill>
              </a:rPr>
              <a:t>Data productization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1984248"/>
            <a:ext cx="2468880" cy="0"/>
          </a:xfrm>
          <a:prstGeom prst="line">
            <a:avLst/>
          </a:prstGeom>
          <a:noFill/>
          <a:ln w="1778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249424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Publish stable reason tags to BI layer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Automate monthly refresh and drift checks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1D1F"/>
                </a:solidFill>
              </a:rPr>
              <a:t>• Operate taxonomy versioning and model QA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01F5B"/>
                </a:solidFill>
              </a:rPr>
              <a:t>Next 30 days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416552"/>
            <a:ext cx="1828800" cy="0"/>
          </a:xfrm>
          <a:prstGeom prst="line">
            <a:avLst/>
          </a:prstGeom>
          <a:noFill/>
          <a:ln w="13970">
            <a:solidFill>
              <a:srgbClr val="001F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5257800"/>
            <a:ext cx="777240" cy="0"/>
          </a:xfrm>
          <a:prstGeom prst="line">
            <a:avLst/>
          </a:prstGeom>
          <a:noFill/>
          <a:ln w="17780">
            <a:solidFill>
              <a:srgbClr val="D9E2E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0" y="5257800"/>
            <a:ext cx="777240" cy="0"/>
          </a:xfrm>
          <a:prstGeom prst="line">
            <a:avLst/>
          </a:prstGeom>
          <a:noFill/>
          <a:ln w="17780">
            <a:solidFill>
              <a:srgbClr val="D9E2E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83880" y="5257800"/>
            <a:ext cx="777240" cy="0"/>
          </a:xfrm>
          <a:prstGeom prst="line">
            <a:avLst/>
          </a:prstGeom>
          <a:noFill/>
          <a:ln w="17780">
            <a:solidFill>
              <a:srgbClr val="D9E2EF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31520" y="4956048"/>
            <a:ext cx="320040" cy="29260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32" y="49194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Validate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53583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Review top leaves and Other samples with business owners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429000" y="4956048"/>
            <a:ext cx="320040" cy="29260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67912" y="49194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Instrument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29000" y="53583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Load canonical tags into BI and monthly reporting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126480" y="4956048"/>
            <a:ext cx="320040" cy="29260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65392" y="49194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Govern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26480" y="53583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Create taxonomy change request and release cadence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823960" y="4956048"/>
            <a:ext cx="320040" cy="292608"/>
          </a:xfrm>
          <a:prstGeom prst="rect">
            <a:avLst/>
          </a:prstGeom>
          <a:solidFill>
            <a:srgbClr val="F7D117"/>
          </a:solidFill>
          <a:ln>
            <a:solidFill>
              <a:srgbClr val="F7D11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62872" y="49194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1D1F"/>
                </a:solidFill>
              </a:rPr>
              <a:t>Refresh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23960" y="53583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Score new billing contacts and monitor drift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B7280"/>
                </a:solidFill>
              </a:rPr>
              <a:t>Source: governance loop and final classification outputs.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Brightspeed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Brightspeed Billing Taxonomy Executive Overview</dc:title>
  <dc:subject>Billing taxonomy executive overview</dc:subject>
  <dc:creator>Brightspeed</dc:creator>
  <cp:lastModifiedBy>Brightspeed</cp:lastModifiedBy>
  <cp:revision>1</cp:revision>
  <dcterms:created xsi:type="dcterms:W3CDTF">2026-08-17T16:47:16Z</dcterms:created>
  <dcterms:modified xsi:type="dcterms:W3CDTF">2026-08-17T16:47:16Z</dcterms:modified>
</cp:coreProperties>
</file>